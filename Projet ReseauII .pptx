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F7A79-9F91-48AA-90AE-A3151E596C91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2F68A-4CFD-4516-8E6C-521054B8D9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4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2F68A-4CFD-4516-8E6C-521054B8D9F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494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2F68A-4CFD-4516-8E6C-521054B8D9F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903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51560" y="41237"/>
            <a:ext cx="10058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08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FACULTÉ DES SCIENCES ET DES TECHNOLOGIES (FST)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471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 dirty="0">
                <a:solidFill>
                  <a:srgbClr val="FFFFFF"/>
                </a:solidFill>
              </a:rPr>
              <a:t>Implémentation</a:t>
            </a:r>
            <a:r>
              <a:rPr sz="4600" b="1" i="0" dirty="0">
                <a:solidFill>
                  <a:srgbClr val="FFFFFF"/>
                </a:solidFill>
              </a:rPr>
              <a:t> des ACL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pour le </a:t>
            </a:r>
            <a:r>
              <a:rPr sz="2800" b="0" i="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Contrôle</a:t>
            </a:r>
            <a:r>
              <a:rPr sz="2800" b="0" i="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sz="2800" b="0" i="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d'Accès</a:t>
            </a:r>
            <a:r>
              <a:rPr sz="2800" b="0" i="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sz="2800" b="0" i="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Réseau</a:t>
            </a:r>
            <a:endParaRPr sz="2800" b="0" i="0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28800" y="2606040"/>
            <a:ext cx="8503920" cy="36576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smtClean="0">
                <a:solidFill>
                  <a:schemeClr val="bg1"/>
                </a:solidFill>
              </a:rPr>
              <a:t>  </a:t>
            </a:r>
            <a:r>
              <a:rPr sz="2000" b="0" i="0" dirty="0">
                <a:solidFill>
                  <a:schemeClr val="bg1"/>
                </a:solidFill>
              </a:rPr>
              <a:t>Réseaux</a:t>
            </a:r>
            <a:r>
              <a:rPr sz="2000" b="0" i="0" dirty="0">
                <a:solidFill>
                  <a:schemeClr val="bg1"/>
                </a:solidFill>
              </a:rPr>
              <a:t>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 smtClean="0">
                <a:solidFill>
                  <a:srgbClr val="FFFFFF"/>
                </a:solidFill>
              </a:rPr>
              <a:t> </a:t>
            </a:r>
            <a:r>
              <a:rPr lang="en-US" sz="2000" dirty="0" smtClean="0">
                <a:solidFill>
                  <a:srgbClr val="FFFFFF"/>
                </a:solidFill>
              </a:rPr>
              <a:t>Groupe</a:t>
            </a:r>
            <a:r>
              <a:rPr lang="en-US" sz="2000" dirty="0" smtClean="0">
                <a:solidFill>
                  <a:srgbClr val="FFFFFF"/>
                </a:solidFill>
              </a:rPr>
              <a:t> </a:t>
            </a:r>
            <a:r>
              <a:rPr sz="2000" b="0" i="0" dirty="0" smtClean="0">
                <a:solidFill>
                  <a:srgbClr val="FFFFFF"/>
                </a:solidFill>
              </a:rPr>
              <a:t>:   </a:t>
            </a:r>
            <a:r>
              <a:rPr lang="en-US" sz="2000" b="0" i="0" dirty="0" smtClean="0">
                <a:solidFill>
                  <a:srgbClr val="FFFFFF"/>
                </a:solidFill>
              </a:rPr>
              <a:t>Magdala Isidore</a:t>
            </a:r>
            <a:r>
              <a:rPr sz="2000" b="0" i="0" dirty="0" smtClean="0">
                <a:solidFill>
                  <a:srgbClr val="FFFFFF"/>
                </a:solidFill>
              </a:rPr>
              <a:t>  </a:t>
            </a:r>
            <a:r>
              <a:rPr lang="en-US" sz="2000" dirty="0">
                <a:solidFill>
                  <a:srgbClr val="FFFFFF"/>
                </a:solidFill>
              </a:rPr>
              <a:t>,</a:t>
            </a:r>
            <a:r>
              <a:rPr sz="2000" b="0" i="0" dirty="0" smtClean="0">
                <a:solidFill>
                  <a:srgbClr val="FFFFFF"/>
                </a:solidFill>
              </a:rPr>
              <a:t> </a:t>
            </a:r>
            <a:r>
              <a:rPr lang="en-US" sz="2000" b="0" i="0" dirty="0" smtClean="0">
                <a:solidFill>
                  <a:srgbClr val="FFFFFF"/>
                </a:solidFill>
              </a:rPr>
              <a:t>Dochlie</a:t>
            </a:r>
            <a:r>
              <a:rPr lang="en-US" sz="2000" b="0" i="0" dirty="0" smtClean="0">
                <a:solidFill>
                  <a:srgbClr val="FFFFFF"/>
                </a:solidFill>
              </a:rPr>
              <a:t> </a:t>
            </a:r>
            <a:r>
              <a:rPr lang="en-US" sz="2000" b="0" i="0" dirty="0" smtClean="0">
                <a:solidFill>
                  <a:srgbClr val="FFFFFF"/>
                </a:solidFill>
              </a:rPr>
              <a:t>Louis </a:t>
            </a:r>
            <a:r>
              <a:rPr lang="en-US" sz="2000" b="0" i="0" dirty="0" smtClean="0">
                <a:solidFill>
                  <a:srgbClr val="FFFFFF"/>
                </a:solidFill>
              </a:rPr>
              <a:t>,</a:t>
            </a:r>
            <a:r>
              <a:rPr sz="2000" b="0" i="0" dirty="0" smtClean="0">
                <a:solidFill>
                  <a:srgbClr val="FFFFFF"/>
                </a:solidFill>
              </a:rPr>
              <a:t>Alexandre </a:t>
            </a:r>
            <a:r>
              <a:rPr sz="2000" b="0" i="0" dirty="0">
                <a:solidFill>
                  <a:srgbClr val="FFFFFF"/>
                </a:solidFill>
              </a:rPr>
              <a:t>Frantzdy</a:t>
            </a:r>
            <a:r>
              <a:rPr sz="2000" b="0" i="0" dirty="0">
                <a:solidFill>
                  <a:srgbClr val="FFFFFF"/>
                </a:solidFill>
              </a:rPr>
              <a:t>   </a:t>
            </a:r>
            <a:r>
              <a:rPr sz="1300" b="0" i="0" dirty="0" smtClean="0">
                <a:solidFill>
                  <a:srgbClr val="FFFFFF"/>
                </a:solidFill>
              </a:rPr>
              <a:t> </a:t>
            </a:r>
            <a:endParaRPr sz="1300" b="0" i="0" dirty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0916" y="4395028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</a:t>
            </a:r>
            <a:r>
              <a:rPr lang="en-US" b="0" i="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esseur</a:t>
            </a:r>
            <a:r>
              <a:rPr lang="en-US" b="0" i="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Réseau</a:t>
            </a:r>
            <a:r>
              <a:rPr b="0" i="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i="0" dirty="0" smtClean="0">
                <a:solidFill>
                  <a:srgbClr val="ADD8FF"/>
                </a:solidFill>
              </a:rPr>
              <a:t>II</a:t>
            </a:r>
            <a:r>
              <a:rPr lang="en-US" sz="1200" b="0" i="0" dirty="0" smtClean="0">
                <a:solidFill>
                  <a:srgbClr val="ADD8FF"/>
                </a:solidFill>
              </a:rPr>
              <a:t>   : </a:t>
            </a:r>
            <a:r>
              <a:rPr lang="en-US" sz="2000" b="0" i="0" dirty="0" smtClean="0">
                <a:solidFill>
                  <a:schemeClr val="bg1"/>
                </a:solidFill>
              </a:rPr>
              <a:t>Ismael  Saint Amour    </a:t>
            </a:r>
            <a:endParaRPr sz="2000" b="0" i="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76578" y="5168127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smtClean="0">
                <a:solidFill>
                  <a:srgbClr val="ADD8FF"/>
                </a:solidFill>
              </a:rPr>
              <a:t>     </a:t>
            </a:r>
            <a:r>
              <a:rPr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</a:t>
            </a:r>
            <a:r>
              <a:rPr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29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418513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smtClean="0">
                <a:solidFill>
                  <a:srgbClr val="FFFFFF"/>
                </a:solidFill>
              </a:rPr>
              <a:t>Plan </a:t>
            </a:r>
            <a:r>
              <a:rPr sz="2800" b="1" i="0" dirty="0">
                <a:solidFill>
                  <a:srgbClr val="FFFFFF"/>
                </a:solidFill>
              </a:rPr>
              <a:t>de la </a:t>
            </a:r>
            <a:r>
              <a:rPr sz="2800" b="1" i="0" dirty="0">
                <a:solidFill>
                  <a:srgbClr val="FFFFFF"/>
                </a:solidFill>
              </a:rPr>
              <a:t>Présentation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748" y="1549001"/>
            <a:ext cx="489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856232"/>
            <a:ext cx="4892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Pourquoi</a:t>
            </a:r>
            <a:r>
              <a:rPr sz="1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les ACL </a:t>
            </a:r>
            <a:r>
              <a:rPr sz="1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sont</a:t>
            </a:r>
            <a:r>
              <a:rPr sz="1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importantes</a:t>
            </a:r>
            <a:r>
              <a:rPr sz="1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dans</a:t>
            </a:r>
            <a:r>
              <a:rPr sz="1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un </a:t>
            </a:r>
            <a:r>
              <a:rPr sz="1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réseau</a:t>
            </a:r>
            <a:endParaRPr sz="1000" b="0" i="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39840" y="1440898"/>
            <a:ext cx="489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Objectifs</a:t>
            </a:r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 du </a:t>
            </a:r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projet</a:t>
            </a:r>
            <a:endParaRPr sz="1600" b="1" i="0" dirty="0">
              <a:solidFill>
                <a:srgbClr val="0D3B6E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49440" y="1856232"/>
            <a:ext cx="4892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Ce 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qu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 nous 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voul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ions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accomplir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à</a:t>
            </a:r>
            <a:r>
              <a:rPr lang="en-US"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travers 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ce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travail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469" y="2493181"/>
            <a:ext cx="489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Topologie</a:t>
            </a:r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 </a:t>
            </a:r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réseau</a:t>
            </a:r>
            <a:endParaRPr sz="1600" b="1" i="0" dirty="0">
              <a:solidFill>
                <a:srgbClr val="0D3B6E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0180" y="2974253"/>
            <a:ext cx="4892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Le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réseau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qu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 nous 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</a:t>
            </a:r>
            <a:r>
              <a:rPr lang="en-US"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vons</a:t>
            </a:r>
            <a:r>
              <a:rPr lang="en-US"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créé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dans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Cisco Packet Tracer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4710" y="2692407"/>
            <a:ext cx="489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Configuration des </a:t>
            </a:r>
            <a:r>
              <a:rPr sz="1600" b="1" i="0" dirty="0" smtClean="0">
                <a:solidFill>
                  <a:srgbClr val="0D3B6E"/>
                </a:solidFill>
                <a:latin typeface="Arial Black" panose="020B0A04020102020204" pitchFamily="34" charset="0"/>
              </a:rPr>
              <a:t>VLAN</a:t>
            </a:r>
            <a:r>
              <a:rPr lang="en-US" sz="1600" b="1" dirty="0">
                <a:solidFill>
                  <a:srgbClr val="0D3B6E"/>
                </a:solidFill>
                <a:latin typeface="Arial Black" panose="020B0A04020102020204" pitchFamily="34" charset="0"/>
              </a:rPr>
              <a:t>S</a:t>
            </a:r>
            <a:endParaRPr sz="1600" b="1" i="0" dirty="0">
              <a:solidFill>
                <a:srgbClr val="0D3B6E"/>
              </a:solidFill>
              <a:latin typeface="Arial Black" panose="020B0A040201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88020" y="3188259"/>
            <a:ext cx="4892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Comment 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nous 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avons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segmenté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le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réseau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en zones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3840926"/>
            <a:ext cx="489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Configuration DHCP &amp; DNS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3" y="4264258"/>
            <a:ext cx="4892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Attribution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automatique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d'adresses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IP et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résolution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de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noms</a:t>
            </a:r>
            <a:endParaRPr sz="1200" b="0" i="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39840" y="3842865"/>
            <a:ext cx="4892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ACL Standard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2260" y="4326065"/>
            <a:ext cx="4892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Filtrage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par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adresse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IP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0469" y="4938034"/>
            <a:ext cx="489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ACL </a:t>
            </a:r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Étendue</a:t>
            </a:r>
            <a:endParaRPr sz="1600" b="1" i="0" dirty="0">
              <a:solidFill>
                <a:srgbClr val="0D3B6E"/>
              </a:solidFill>
              <a:latin typeface="Arial Black" panose="020B0A040201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68479" y="5349513"/>
            <a:ext cx="4892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Filtrage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par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protocole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, port et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adresse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28998" y="5107311"/>
            <a:ext cx="489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Tests &amp; </a:t>
            </a:r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Résultats</a:t>
            </a:r>
            <a:endParaRPr sz="1600" b="1" i="0" dirty="0">
              <a:solidFill>
                <a:srgbClr val="0D3B6E"/>
              </a:solidFill>
              <a:latin typeface="Arial Black" panose="020B0A040201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47688" y="5432329"/>
            <a:ext cx="4892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Vérification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du bon 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fonctionnement</a:t>
            </a:r>
            <a:r>
              <a:rPr lang="en-US"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des 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ACL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0" y="6168729"/>
            <a:ext cx="489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Erreurs</a:t>
            </a:r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 </a:t>
            </a:r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rencontrées</a:t>
            </a:r>
            <a:endParaRPr sz="1600" b="1" i="0" dirty="0">
              <a:solidFill>
                <a:srgbClr val="0D3B6E"/>
              </a:solidFill>
              <a:latin typeface="Arial Black" panose="020B0A040201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3471" y="6564233"/>
            <a:ext cx="4892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Les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problèmes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rencontres  et  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leurs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solutions</a:t>
            </a:r>
            <a:endParaRPr sz="1200" b="0" i="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154710" y="6136842"/>
            <a:ext cx="489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B6E"/>
                </a:solidFill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88020" y="6495301"/>
            <a:ext cx="4892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Ce 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qu</a:t>
            </a:r>
            <a:r>
              <a:rPr lang="en-US"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 nous </a:t>
            </a:r>
            <a:r>
              <a:rPr lang="en-US"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avons</a:t>
            </a:r>
            <a:r>
              <a:rPr lang="en-US"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appris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grâce à</a:t>
            </a:r>
            <a:r>
              <a:rPr sz="12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ce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projet</a:t>
            </a:r>
            <a:endParaRPr sz="1200" b="0" i="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266796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smtClean="0">
                <a:solidFill>
                  <a:srgbClr val="FFFFFF"/>
                </a:solidFill>
              </a:rPr>
              <a:t>Introduction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 un réseau d’entreprise, la sécurité commence là où les accès </a:t>
            </a:r>
            <a:r>
              <a:rPr lang="fr-FR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s'arrêtent,  </a:t>
            </a: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c'est le rôle des ACL</a:t>
            </a:r>
            <a:r>
              <a:rPr lang="fr-FR" sz="1300" dirty="0">
                <a:solidFill>
                  <a:srgbClr val="333333"/>
                </a:solidFill>
              </a:rPr>
              <a:t>.</a:t>
            </a:r>
            <a:endParaRPr sz="1300" b="0" i="0" dirty="0">
              <a:solidFill>
                <a:srgbClr val="333333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2377440"/>
            <a:ext cx="5669280" cy="347472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11480" y="2404872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  </a:t>
            </a:r>
            <a:r>
              <a:rPr b="1" i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Sécurité</a:t>
            </a:r>
            <a:endParaRPr b="1" i="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" y="2770632"/>
            <a:ext cx="54498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Bloquer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accès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non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autorisés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•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Protéger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serveurs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sensibles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•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Empêcher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attaques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377440"/>
            <a:ext cx="5669280" cy="347472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355080" y="2404872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</a:rPr>
              <a:t>  </a:t>
            </a:r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Contrôle</a:t>
            </a:r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précis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770632"/>
            <a:ext cx="54498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Filtrer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 IP source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destination
•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Filtrer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protocole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(TCP, UDP…)
•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Filtrer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numéro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114800"/>
            <a:ext cx="5669280" cy="347472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11480" y="4142232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Deux</a:t>
            </a:r>
            <a:r>
              <a:rPr sz="16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types </a:t>
            </a:r>
            <a:r>
              <a:rPr sz="16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d'ACL</a:t>
            </a:r>
            <a:endParaRPr sz="1600" b="1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9768" y="4507992"/>
            <a:ext cx="54498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ACL Standard
• ACL 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Étendue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
• 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Appliquées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 les interfaces 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routeur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63640" y="4114800"/>
            <a:ext cx="5669280" cy="347472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355080" y="4142232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Notre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outil</a:t>
            </a:r>
            <a:endParaRPr b="1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73368" y="4507992"/>
            <a:ext cx="5449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Routeurs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Cisco IOS
• Switches avec VLANs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configurés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252728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smtClean="0">
                <a:solidFill>
                  <a:srgbClr val="FFFFFF"/>
                </a:solidFill>
              </a:rPr>
              <a:t> </a:t>
            </a:r>
            <a:r>
              <a:rPr sz="2800" b="1" i="0" dirty="0">
                <a:solidFill>
                  <a:srgbClr val="FFFFFF"/>
                </a:solidFill>
              </a:rPr>
              <a:t>Objectifs</a:t>
            </a:r>
            <a:r>
              <a:rPr sz="2800" b="1" i="0" dirty="0">
                <a:solidFill>
                  <a:srgbClr val="FFFFFF"/>
                </a:solidFill>
              </a:rPr>
              <a:t> du </a:t>
            </a:r>
            <a:r>
              <a:rPr sz="2800" b="1" i="0" dirty="0">
                <a:solidFill>
                  <a:srgbClr val="FFFFFF"/>
                </a:solidFill>
              </a:rPr>
              <a:t>Projet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8415" y="1332097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smtClean="0">
                <a:solidFill>
                  <a:srgbClr val="0D3B6E"/>
                </a:solidFill>
              </a:rPr>
              <a:t> </a:t>
            </a:r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Comprendre</a:t>
            </a:r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les </a:t>
            </a:r>
            <a:r>
              <a:rPr sz="2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ACL</a:t>
            </a:r>
            <a:r>
              <a:rPr lang="en-US" sz="2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:</a:t>
            </a:r>
            <a:endParaRPr sz="2000" b="1" i="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81785" y="1753809"/>
            <a:ext cx="10607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Apprendre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comment les ACL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fonctionnent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 un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routeur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Cisc</a:t>
            </a: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omment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elles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lisent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appliquent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règles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l'ordre</a:t>
            </a:r>
            <a:r>
              <a:rPr sz="1050" b="0" i="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8415" y="2401193"/>
            <a:ext cx="44629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Créer</a:t>
            </a:r>
            <a:r>
              <a:rPr sz="2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un </a:t>
            </a:r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réseau</a:t>
            </a:r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2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multi-VLAN</a:t>
            </a:r>
            <a:r>
              <a:rPr lang="en-US" sz="2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:</a:t>
            </a:r>
            <a:endParaRPr sz="2000" b="1" i="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2870486"/>
            <a:ext cx="10607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Construire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topologie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avec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plusieurs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VLANs (Administration,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Étudiants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Serveurs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et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configurer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routage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inter-VLAN.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3518918"/>
            <a:ext cx="45860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Configurer</a:t>
            </a:r>
            <a:r>
              <a:rPr sz="2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les ACL </a:t>
            </a:r>
            <a:r>
              <a:rPr sz="2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Standard</a:t>
            </a:r>
            <a:r>
              <a:rPr lang="en-US" sz="2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:</a:t>
            </a:r>
            <a:endParaRPr sz="2000" b="1" i="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" y="3904488"/>
            <a:ext cx="10607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Écrire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règles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qui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filtrent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selon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l'adresse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IP source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seulement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simple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mais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utile pour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bloquer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réseaux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entiers</a:t>
            </a:r>
            <a:r>
              <a:rPr sz="1050" b="0" i="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" y="4718304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155FAA"/>
                </a:solidFill>
              </a:rPr>
              <a:t>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4362730"/>
            <a:ext cx="43532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smtClean="0">
                <a:solidFill>
                  <a:srgbClr val="0D3B6E"/>
                </a:solidFill>
              </a:rPr>
              <a:t> </a:t>
            </a:r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Configurer</a:t>
            </a:r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les ACL </a:t>
            </a:r>
            <a:r>
              <a:rPr sz="2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Étendues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:</a:t>
            </a:r>
            <a:endParaRPr sz="2000" b="1" i="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4410" y="4814025"/>
            <a:ext cx="10607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Créer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règles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plus précises qui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filtrent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selon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l'IP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source,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l'IP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destination, le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(TCP/ICMP) et le port </a:t>
            </a: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 </a:t>
            </a: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266796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Topologie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Réseau</a:t>
            </a:r>
            <a:endParaRPr sz="1400" b="1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6400800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949440" y="1371600"/>
            <a:ext cx="4892040" cy="347472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0880" y="1389888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Composants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réseau</a:t>
            </a:r>
            <a:endParaRPr sz="1400" b="1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94576" y="222472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Switch —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tous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</a:t>
            </a:r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les </a:t>
            </a:r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US"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926080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 10 — Administration (</a:t>
            </a:r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192.168.10.0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86600" y="3474720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 20 —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Étudiants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(192.168.20.0/24)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023360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—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Serveurs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192.168.30.0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86600" y="4572000"/>
            <a:ext cx="4928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ServeurDHCP</a:t>
            </a:r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donne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IPs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automatiquement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86600" y="5120640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ServeurDNS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résout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noms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domaine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6600" y="5669280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Connexion</a:t>
            </a:r>
            <a:r>
              <a:rPr sz="14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trunk entre le Switch et le </a:t>
            </a: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Routeur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0040" y="4251960"/>
            <a:ext cx="6400800" cy="365760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" y="4270248"/>
            <a:ext cx="6217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d'adressage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617720"/>
            <a:ext cx="1097280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5760" y="4636008"/>
            <a:ext cx="10058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19" y="4617720"/>
            <a:ext cx="1828800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63040" y="4636008"/>
            <a:ext cx="1737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Réseau</a:t>
            </a:r>
            <a:endParaRPr sz="1400" b="1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46120" y="4617720"/>
            <a:ext cx="2286000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91840" y="4636008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Passerelle</a:t>
            </a:r>
            <a:endParaRPr sz="1400" b="1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532120" y="4617720"/>
            <a:ext cx="1097280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577840" y="4636008"/>
            <a:ext cx="10058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937760"/>
            <a:ext cx="1097280" cy="320040"/>
          </a:xfrm>
          <a:prstGeom prst="rect">
            <a:avLst/>
          </a:prstGeom>
          <a:solidFill>
            <a:srgbClr val="D6E8F7"/>
          </a:solidFill>
          <a:ln w="63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5760" y="4956048"/>
            <a:ext cx="10058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17319" y="4937760"/>
            <a:ext cx="1828800" cy="320040"/>
          </a:xfrm>
          <a:prstGeom prst="rect">
            <a:avLst/>
          </a:prstGeom>
          <a:solidFill>
            <a:srgbClr val="D6E8F7"/>
          </a:solidFill>
          <a:ln w="63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63040" y="4956048"/>
            <a:ext cx="1737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192.168.10.0/24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4937760"/>
            <a:ext cx="2286000" cy="320040"/>
          </a:xfrm>
          <a:prstGeom prst="rect">
            <a:avLst/>
          </a:prstGeom>
          <a:solidFill>
            <a:srgbClr val="D6E8F7"/>
          </a:solidFill>
          <a:ln w="63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91840" y="4956048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192.168.10.1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32120" y="4937760"/>
            <a:ext cx="1097280" cy="320040"/>
          </a:xfrm>
          <a:prstGeom prst="rect">
            <a:avLst/>
          </a:prstGeom>
          <a:solidFill>
            <a:srgbClr val="D6E8F7"/>
          </a:solidFill>
          <a:ln w="63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577840" y="4956048"/>
            <a:ext cx="10058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257800"/>
            <a:ext cx="10972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5760" y="5276088"/>
            <a:ext cx="10058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17319" y="525780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63040" y="5276088"/>
            <a:ext cx="1737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192.168.20.0/24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46120" y="525780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291840" y="5276088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192.168.20.1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32120" y="5257800"/>
            <a:ext cx="10972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577840" y="5276088"/>
            <a:ext cx="10058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Étudiants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20040" y="5577840"/>
            <a:ext cx="1097280" cy="320040"/>
          </a:xfrm>
          <a:prstGeom prst="rect">
            <a:avLst/>
          </a:prstGeom>
          <a:solidFill>
            <a:srgbClr val="D6E8F7"/>
          </a:solidFill>
          <a:ln w="63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5760" y="5596128"/>
            <a:ext cx="10058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17319" y="5577840"/>
            <a:ext cx="1828800" cy="320040"/>
          </a:xfrm>
          <a:prstGeom prst="rect">
            <a:avLst/>
          </a:prstGeom>
          <a:solidFill>
            <a:srgbClr val="D6E8F7"/>
          </a:solidFill>
          <a:ln w="63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63040" y="5596128"/>
            <a:ext cx="1737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192.168.30.0/24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46120" y="5577840"/>
            <a:ext cx="2286000" cy="320040"/>
          </a:xfrm>
          <a:prstGeom prst="rect">
            <a:avLst/>
          </a:prstGeom>
          <a:solidFill>
            <a:srgbClr val="D6E8F7"/>
          </a:solidFill>
          <a:ln w="63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91840" y="5596128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192.168.30.1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32120" y="5577840"/>
            <a:ext cx="1097280" cy="320040"/>
          </a:xfrm>
          <a:prstGeom prst="rect">
            <a:avLst/>
          </a:prstGeom>
          <a:solidFill>
            <a:srgbClr val="D6E8F7"/>
          </a:solidFill>
          <a:ln w="63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577840" y="5596128"/>
            <a:ext cx="10058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Serveurs</a:t>
            </a:r>
            <a:endParaRPr sz="14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F0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648030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smtClean="0">
                <a:solidFill>
                  <a:srgbClr val="FFFFFF"/>
                </a:solidFill>
              </a:rPr>
              <a:t>  </a:t>
            </a:r>
            <a:r>
              <a:rPr sz="2800" b="1" i="0" dirty="0">
                <a:solidFill>
                  <a:srgbClr val="FFFFFF"/>
                </a:solidFill>
              </a:rPr>
              <a:t>Configuration des VLANs sur le Switch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538" y="6625944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smtClean="0">
                <a:solidFill>
                  <a:srgbClr val="ADD8FF"/>
                </a:solidFill>
              </a:rPr>
              <a:t>R</a:t>
            </a:r>
            <a:endParaRPr sz="900" b="0" i="0" dirty="0">
              <a:solidFill>
                <a:srgbClr val="ADD8FF"/>
              </a:solidFill>
            </a:endParaRP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10582422" cy="29624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84938" y="5043372"/>
            <a:ext cx="502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voit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'show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brief' qui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affiche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VLANs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créés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 le switch.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Chaque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VLAN a un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numéro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un nom et les ports qui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appartiennent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266796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smtClean="0">
                <a:solidFill>
                  <a:srgbClr val="FFFFFF"/>
                </a:solidFill>
              </a:rPr>
              <a:t> </a:t>
            </a:r>
            <a:r>
              <a:rPr sz="2800" b="1" i="0" dirty="0">
                <a:solidFill>
                  <a:srgbClr val="FFFFFF"/>
                </a:solidFill>
              </a:rPr>
              <a:t>Configuration du </a:t>
            </a:r>
            <a:r>
              <a:rPr sz="2800" b="1" i="0" dirty="0">
                <a:solidFill>
                  <a:srgbClr val="FFFFFF"/>
                </a:solidFill>
              </a:rPr>
              <a:t>Routeur</a:t>
            </a:r>
            <a:r>
              <a:rPr sz="2800" b="1" i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9" name="Picture 8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52728"/>
            <a:ext cx="6766560" cy="5175504"/>
          </a:xfrm>
          <a:prstGeom prst="rect">
            <a:avLst/>
          </a:prstGeom>
        </p:spPr>
      </p:pic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" y="1461630"/>
            <a:ext cx="5029200" cy="49616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266796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smtClean="0">
                <a:solidFill>
                  <a:srgbClr val="FFFFFF"/>
                </a:solidFill>
              </a:rPr>
              <a:t> </a:t>
            </a:r>
            <a:r>
              <a:rPr sz="2800" b="1" i="0" dirty="0">
                <a:solidFill>
                  <a:srgbClr val="FFFFFF"/>
                </a:solidFill>
              </a:rPr>
              <a:t>Configuration du </a:t>
            </a:r>
            <a:r>
              <a:rPr sz="2800" b="1" i="0" dirty="0">
                <a:solidFill>
                  <a:srgbClr val="FFFFFF"/>
                </a:solidFill>
              </a:rPr>
              <a:t>Serveur</a:t>
            </a:r>
            <a:r>
              <a:rPr sz="2800" b="1" i="0" dirty="0">
                <a:solidFill>
                  <a:srgbClr val="FFFFFF"/>
                </a:solidFill>
              </a:rPr>
              <a:t> DHCP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DD8FF"/>
                </a:solidFill>
              </a:rPr>
              <a:t>Donner des </a:t>
            </a:r>
            <a:r>
              <a:rPr sz="1400" b="0" i="0" dirty="0">
                <a:solidFill>
                  <a:srgbClr val="ADD8FF"/>
                </a:solidFill>
              </a:rPr>
              <a:t>adresses</a:t>
            </a:r>
            <a:r>
              <a:rPr sz="1400" b="0" i="0" dirty="0">
                <a:solidFill>
                  <a:srgbClr val="ADD8FF"/>
                </a:solidFill>
              </a:rPr>
              <a:t> IP </a:t>
            </a:r>
            <a:r>
              <a:rPr sz="1400" b="0" i="0" dirty="0">
                <a:solidFill>
                  <a:srgbClr val="ADD8FF"/>
                </a:solidFill>
              </a:rPr>
              <a:t>automatiquement</a:t>
            </a:r>
            <a:r>
              <a:rPr sz="1400" b="0" i="0" dirty="0">
                <a:solidFill>
                  <a:srgbClr val="ADD8FF"/>
                </a:solidFill>
              </a:rPr>
              <a:t> aux PCs</a:t>
            </a:r>
          </a:p>
        </p:txBody>
      </p:sp>
      <p:pic>
        <p:nvPicPr>
          <p:cNvPr id="10" name="Picture 9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45" y="1271016"/>
            <a:ext cx="6108895" cy="47548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92240" y="1371600"/>
            <a:ext cx="53949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492240" y="1371600"/>
            <a:ext cx="5394960" cy="347472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583680" y="1389888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smtClean="0">
                <a:solidFill>
                  <a:srgbClr val="FFFFFF"/>
                </a:solidFill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Ce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qu'on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voit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dans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ces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captures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smtClean="0">
                <a:solidFill>
                  <a:srgbClr val="333333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Le 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serveur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DHCP </a:t>
            </a:r>
            <a:r>
              <a:rPr lang="en-US" b="0" i="0" dirty="0" smtClean="0">
                <a:solidFill>
                  <a:srgbClr val="333333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à</a:t>
            </a:r>
            <a:r>
              <a:rPr b="0" i="0" dirty="0" smtClean="0">
                <a:solidFill>
                  <a:srgbClr val="333333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3 pools 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configurés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sz="1000" b="0" i="0" dirty="0">
              <a:solidFill>
                <a:srgbClr val="33333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0" y="2167128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33333"/>
                </a:solidFill>
              </a:rPr>
              <a:t>  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Pool VLAN10 → IPs pour Administration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36432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Pool VLAN20 → IPs pour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Étudiants</a:t>
            </a:r>
            <a:endParaRPr b="0" i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2969772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33333"/>
                </a:solidFill>
              </a:rPr>
              <a:t>   •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Pool VLAN30 → IPs pour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Serveurs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0" y="318211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583680" y="3436358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333333"/>
                </a:solidFill>
              </a:rPr>
              <a:t> 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Chaque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pool 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contient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</a:t>
            </a:r>
            <a:endParaRPr sz="1000" b="0" i="0" dirty="0">
              <a:solidFill>
                <a:srgbClr val="33333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0" y="3858768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33333"/>
                </a:solidFill>
              </a:rPr>
              <a:t>  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L'adresse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début du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réseau</a:t>
            </a:r>
            <a:endParaRPr b="0" i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0" y="4197096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Le masque de sous-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réseau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0" y="4535424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33333"/>
                </a:solidFill>
              </a:rPr>
              <a:t>  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La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passerelle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défaut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routeur</a:t>
            </a:r>
            <a:r>
              <a:rPr sz="1000" b="0" i="0" dirty="0">
                <a:solidFill>
                  <a:srgbClr val="333333"/>
                </a:solidFill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873752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33333"/>
                </a:solidFill>
              </a:rPr>
              <a:t>  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Le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serveur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21208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629400" y="5341096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333333"/>
                </a:solidFill>
              </a:rPr>
              <a:t> 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Les PCs 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reçoivent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automatiquement</a:t>
            </a:r>
            <a:r>
              <a:rPr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3116" y="5732502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adresse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IP unique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071289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33333"/>
                </a:solidFill>
              </a:rPr>
              <a:t>   •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passerelle</a:t>
            </a:r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le DNS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56539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266796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smtClean="0">
                <a:solidFill>
                  <a:srgbClr val="FFFFFF"/>
                </a:solidFill>
              </a:rPr>
              <a:t> </a:t>
            </a:r>
            <a:r>
              <a:rPr sz="2800" b="1" i="0" dirty="0">
                <a:solidFill>
                  <a:srgbClr val="FFFFFF"/>
                </a:solidFill>
              </a:rPr>
              <a:t>Configuration du </a:t>
            </a:r>
            <a:r>
              <a:rPr sz="2800" b="1" i="0" dirty="0">
                <a:solidFill>
                  <a:srgbClr val="FFFFFF"/>
                </a:solidFill>
              </a:rPr>
              <a:t>Serveur</a:t>
            </a:r>
            <a:r>
              <a:rPr sz="2800" b="1" i="0" dirty="0">
                <a:solidFill>
                  <a:srgbClr val="FFFFFF"/>
                </a:solidFill>
              </a:rPr>
              <a:t> DNS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DD8FF"/>
                </a:solidFill>
              </a:rPr>
              <a:t>Résoudre</a:t>
            </a:r>
            <a:r>
              <a:rPr sz="1400" b="0" i="0" dirty="0">
                <a:solidFill>
                  <a:srgbClr val="ADD8FF"/>
                </a:solidFill>
              </a:rPr>
              <a:t> les </a:t>
            </a:r>
            <a:r>
              <a:rPr sz="1400" b="0" i="0" dirty="0">
                <a:solidFill>
                  <a:srgbClr val="ADD8FF"/>
                </a:solidFill>
              </a:rPr>
              <a:t>noms</a:t>
            </a:r>
            <a:r>
              <a:rPr sz="1400" b="0" i="0" dirty="0">
                <a:solidFill>
                  <a:srgbClr val="ADD8FF"/>
                </a:solidFill>
              </a:rPr>
              <a:t> de </a:t>
            </a:r>
            <a:r>
              <a:rPr sz="1400" b="0" i="0" dirty="0">
                <a:solidFill>
                  <a:srgbClr val="ADD8FF"/>
                </a:solidFill>
              </a:rPr>
              <a:t>domaine</a:t>
            </a:r>
            <a:r>
              <a:rPr sz="1400" b="0" i="0" dirty="0">
                <a:solidFill>
                  <a:srgbClr val="ADD8FF"/>
                </a:solidFill>
              </a:rPr>
              <a:t> en </a:t>
            </a:r>
            <a:r>
              <a:rPr sz="1400" b="0" i="0" dirty="0">
                <a:solidFill>
                  <a:srgbClr val="ADD8FF"/>
                </a:solidFill>
              </a:rPr>
              <a:t>adresses</a:t>
            </a:r>
            <a:r>
              <a:rPr sz="1400" b="0" i="0" dirty="0">
                <a:solidFill>
                  <a:srgbClr val="ADD8FF"/>
                </a:solidFill>
              </a:rPr>
              <a:t> IP</a:t>
            </a: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3840480" cy="2560320"/>
          </a:xfrm>
          <a:prstGeom prst="rect">
            <a:avLst/>
          </a:prstGeom>
        </p:spPr>
      </p:pic>
      <p:pic>
        <p:nvPicPr>
          <p:cNvPr id="10" name="Picture 9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71600"/>
            <a:ext cx="3840480" cy="2560320"/>
          </a:xfrm>
          <a:prstGeom prst="rect">
            <a:avLst/>
          </a:prstGeom>
        </p:spPr>
      </p:pic>
      <p:pic>
        <p:nvPicPr>
          <p:cNvPr id="11" name="Picture 10" descr="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023360"/>
            <a:ext cx="7772400" cy="2377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600" y="1371600"/>
            <a:ext cx="3657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657600" cy="347472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321040" y="1389888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smtClean="0">
                <a:solidFill>
                  <a:srgbClr val="FFFFFF"/>
                </a:solidFill>
              </a:rPr>
              <a:t> </a:t>
            </a:r>
            <a:r>
              <a:rPr sz="1200" b="1" i="0" dirty="0">
                <a:solidFill>
                  <a:srgbClr val="FFFFFF"/>
                </a:solidFill>
              </a:rPr>
              <a:t>Rôle</a:t>
            </a:r>
            <a:r>
              <a:rPr sz="1200" b="1" i="0" dirty="0">
                <a:solidFill>
                  <a:srgbClr val="FFFFFF"/>
                </a:solidFill>
              </a:rPr>
              <a:t> du DNS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28800"/>
            <a:ext cx="342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DNS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traduit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noms</a:t>
            </a:r>
            <a:endParaRPr sz="16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60" y="2167128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adresses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IP</a:t>
            </a:r>
            <a:r>
              <a:rPr sz="1050" b="0" i="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0545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366760" y="3520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8366760" y="3106069"/>
            <a:ext cx="342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DNS 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activé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 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698748"/>
            <a:ext cx="342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333333"/>
                </a:solidFill>
              </a:rPr>
              <a:t>  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serveur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Packet Tracer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3542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366760" y="555040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8343900" y="4597060"/>
            <a:ext cx="342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PCs 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utilisent</a:t>
            </a:r>
            <a:endParaRPr sz="20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43900" y="5325835"/>
            <a:ext cx="342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333333"/>
                </a:solidFill>
              </a:rPr>
              <a:t>   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l'IP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 DNS 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reçue</a:t>
            </a:r>
            <a:endParaRPr sz="20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252728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smtClean="0">
                <a:solidFill>
                  <a:srgbClr val="FFFFFF"/>
                </a:solidFill>
              </a:rPr>
              <a:t>ACL </a:t>
            </a:r>
            <a:r>
              <a:rPr sz="2800" b="1" i="0" dirty="0" smtClean="0">
                <a:solidFill>
                  <a:srgbClr val="FFFFFF"/>
                </a:solidFill>
              </a:rPr>
              <a:t>Standard</a:t>
            </a:r>
            <a:r>
              <a:rPr lang="en-US" sz="2800" b="1" i="0" dirty="0" smtClean="0">
                <a:solidFill>
                  <a:srgbClr val="FFFFFF"/>
                </a:solidFill>
              </a:rPr>
              <a:t> et </a:t>
            </a:r>
            <a:r>
              <a:rPr sz="2800" b="1" i="0" dirty="0" smtClean="0">
                <a:solidFill>
                  <a:srgbClr val="FFFFFF"/>
                </a:solidFill>
              </a:rPr>
              <a:t> </a:t>
            </a:r>
            <a:r>
              <a:rPr sz="2800" b="1" i="0" dirty="0">
                <a:solidFill>
                  <a:srgbClr val="FFFFFF"/>
                </a:solidFill>
              </a:rPr>
              <a:t>Filtrage</a:t>
            </a:r>
            <a:r>
              <a:rPr sz="2800" b="1" i="0" dirty="0">
                <a:solidFill>
                  <a:srgbClr val="FFFFFF"/>
                </a:solidFill>
              </a:rPr>
              <a:t> par IP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20659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smtClean="0">
                <a:solidFill>
                  <a:srgbClr val="333333"/>
                </a:solidFill>
              </a:rPr>
              <a:t>.</a:t>
            </a:r>
            <a:endParaRPr sz="1200" b="0" i="0" dirty="0">
              <a:solidFill>
                <a:srgbClr val="333333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2898" y="1826788"/>
            <a:ext cx="115671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90613" y="2008108"/>
            <a:ext cx="6217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smtClean="0">
                <a:solidFill>
                  <a:srgbClr val="FFFFFF"/>
                </a:solidFill>
              </a:rPr>
              <a:t> </a:t>
            </a:r>
            <a:r>
              <a:rPr b="1" i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Scénario</a:t>
            </a:r>
            <a:r>
              <a:rPr lang="en-US" b="1" i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s</a:t>
            </a:r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concret</a:t>
            </a:r>
            <a:endParaRPr b="1" i="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4911" y="2377440"/>
            <a:ext cx="111908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Règle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Le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réseau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VLAN 20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tudiants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peut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accéder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aux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erveurs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VLAN 30.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• On </a:t>
            </a:r>
            <a:r>
              <a:rPr lang="en-US" sz="1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bloque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192.168.20.0/24 avec 'deny'
• On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autorise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tout le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avec 'permit any'
• L'ACL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appliquée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entrée 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fa0/0.30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31920"/>
            <a:ext cx="11521440" cy="347472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11480" y="3950208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smtClean="0">
                <a:solidFill>
                  <a:srgbClr val="FFFFFF"/>
                </a:solidFill>
              </a:rPr>
              <a:t>Règles</a:t>
            </a:r>
            <a:r>
              <a:rPr sz="1300" b="1" i="0" dirty="0" smtClean="0">
                <a:solidFill>
                  <a:srgbClr val="FFFFFF"/>
                </a:solidFill>
              </a:rPr>
              <a:t> </a:t>
            </a:r>
            <a:r>
              <a:rPr sz="1300" b="1" i="0" dirty="0">
                <a:solidFill>
                  <a:srgbClr val="FFFFFF"/>
                </a:solidFill>
              </a:rPr>
              <a:t>importantes</a:t>
            </a:r>
            <a:r>
              <a:rPr sz="1300" b="1" i="0" dirty="0">
                <a:solidFill>
                  <a:srgbClr val="FFFFFF"/>
                </a:solidFill>
              </a:rPr>
              <a:t> à </a:t>
            </a:r>
            <a:r>
              <a:rPr sz="1300" b="1" i="0" dirty="0">
                <a:solidFill>
                  <a:srgbClr val="FFFFFF"/>
                </a:solidFill>
              </a:rPr>
              <a:t>retenir</a:t>
            </a:r>
            <a:r>
              <a:rPr sz="1300" b="1" i="0" dirty="0">
                <a:solidFill>
                  <a:srgbClr val="FFFFFF"/>
                </a:solidFill>
              </a:rPr>
              <a:t> pour les ACL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315968"/>
            <a:ext cx="37490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411480" y="4754880"/>
            <a:ext cx="3566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Les ACL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sont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lues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haut en bas. La première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règle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qui correspond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est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appliquée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Les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suivantes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sont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ignorées</a:t>
            </a:r>
            <a:r>
              <a:rPr sz="1000" b="0" i="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4315968"/>
            <a:ext cx="37490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4343399" y="4754880"/>
            <a:ext cx="3566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 la fin de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toute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ACL,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a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automatiquement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'deny any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invisible. Si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aucune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règle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 match 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bloqué</a:t>
            </a:r>
            <a:r>
              <a:rPr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83879" y="4315968"/>
            <a:ext cx="37490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8275319" y="4754880"/>
            <a:ext cx="356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=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qui entre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l'interface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OUT =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qui sort. Bien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choisir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change tout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266796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smtClean="0">
                <a:solidFill>
                  <a:srgbClr val="FFFFFF"/>
                </a:solidFill>
              </a:rPr>
              <a:t> </a:t>
            </a:r>
            <a:r>
              <a:rPr sz="2800" b="1" i="0" dirty="0">
                <a:solidFill>
                  <a:srgbClr val="FFFFFF"/>
                </a:solidFill>
              </a:rPr>
              <a:t>ACL </a:t>
            </a:r>
            <a:r>
              <a:rPr sz="2800" b="1" i="0" dirty="0" smtClean="0">
                <a:solidFill>
                  <a:srgbClr val="FFFFFF"/>
                </a:solidFill>
              </a:rPr>
              <a:t>Étendue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400" b="0" i="0" dirty="0">
              <a:solidFill>
                <a:srgbClr val="ADD8FF"/>
              </a:solidFill>
            </a:endParaRPr>
          </a:p>
        </p:txBody>
      </p:sp>
      <p:pic>
        <p:nvPicPr>
          <p:cNvPr id="9" name="Picture 8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82" y="1325880"/>
            <a:ext cx="8627012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4663440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Ce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que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montre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cette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capture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1382" y="5297165"/>
            <a:ext cx="594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voit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l'ACL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étendue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101 avec des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règles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deny et permit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selon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l'IP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protocole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le port. Il y a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aussi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erreur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qu'on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corrigée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1444752"/>
            <a:ext cx="5303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smtClean="0">
                <a:solidFill>
                  <a:srgbClr val="80FFC0"/>
                </a:solidFill>
              </a:rPr>
              <a:t>!</a:t>
            </a:r>
            <a:endParaRPr sz="900" b="0" i="0" dirty="0">
              <a:solidFill>
                <a:srgbClr val="80FFC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252728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smtClean="0">
                <a:solidFill>
                  <a:srgbClr val="FFFFFF"/>
                </a:solidFill>
              </a:rPr>
              <a:t>Erreurs</a:t>
            </a:r>
            <a:r>
              <a:rPr sz="2800" b="1" i="0" dirty="0" smtClean="0">
                <a:solidFill>
                  <a:srgbClr val="FFFFFF"/>
                </a:solidFill>
              </a:rPr>
              <a:t> </a:t>
            </a:r>
            <a:r>
              <a:rPr sz="2800" b="1" i="0" dirty="0">
                <a:solidFill>
                  <a:srgbClr val="FFFFFF"/>
                </a:solidFill>
              </a:rPr>
              <a:t>Rencontrées</a:t>
            </a:r>
            <a:r>
              <a:rPr sz="2800" b="1" i="0" dirty="0">
                <a:solidFill>
                  <a:srgbClr val="FFFFFF"/>
                </a:solidFill>
              </a:rPr>
              <a:t> </a:t>
            </a:r>
            <a:r>
              <a:rPr sz="2800" b="1" i="0" dirty="0" smtClean="0">
                <a:solidFill>
                  <a:srgbClr val="FFFFFF"/>
                </a:solidFill>
              </a:rPr>
              <a:t>Corrections</a:t>
            </a:r>
            <a:endParaRPr sz="2800" b="1" i="0" dirty="0">
              <a:solidFill>
                <a:srgbClr val="FFFFFF"/>
              </a:solidFill>
            </a:endParaRPr>
          </a:p>
        </p:txBody>
      </p:sp>
      <p:pic>
        <p:nvPicPr>
          <p:cNvPr id="9" name="Picture 8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357532"/>
            <a:ext cx="10624625" cy="2711548"/>
          </a:xfrm>
          <a:prstGeom prst="rect">
            <a:avLst/>
          </a:prstGeom>
        </p:spPr>
      </p:pic>
      <p:pic>
        <p:nvPicPr>
          <p:cNvPr id="10" name="Picture 9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4069080"/>
            <a:ext cx="10244797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252728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smtClean="0">
                <a:solidFill>
                  <a:srgbClr val="FFFFFF"/>
                </a:solidFill>
              </a:rPr>
              <a:t>  </a:t>
            </a:r>
            <a:r>
              <a:rPr sz="2800" b="1" i="0" dirty="0">
                <a:solidFill>
                  <a:srgbClr val="FFFFFF"/>
                </a:solidFill>
              </a:rPr>
              <a:t>Tests et </a:t>
            </a:r>
            <a:r>
              <a:rPr sz="2800" b="1" i="0" dirty="0">
                <a:solidFill>
                  <a:srgbClr val="FFFFFF"/>
                </a:solidFill>
              </a:rPr>
              <a:t>Résultats</a:t>
            </a:r>
            <a:endParaRPr sz="2800" b="1" i="0" dirty="0">
              <a:solidFill>
                <a:srgbClr val="FFFFFF"/>
              </a:solidFill>
            </a:endParaRPr>
          </a:p>
        </p:txBody>
      </p:sp>
      <p:pic>
        <p:nvPicPr>
          <p:cNvPr id="9" name="Picture 8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5486400" cy="2560320"/>
          </a:xfrm>
          <a:prstGeom prst="rect">
            <a:avLst/>
          </a:prstGeom>
        </p:spPr>
      </p:pic>
      <p:pic>
        <p:nvPicPr>
          <p:cNvPr id="10" name="Picture 9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023360"/>
            <a:ext cx="5486400" cy="2377440"/>
          </a:xfrm>
          <a:prstGeom prst="rect">
            <a:avLst/>
          </a:prstGeom>
        </p:spPr>
      </p:pic>
      <p:pic>
        <p:nvPicPr>
          <p:cNvPr id="11" name="Picture 10" descr="image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371600"/>
            <a:ext cx="5943600" cy="2560320"/>
          </a:xfrm>
          <a:prstGeom prst="rect">
            <a:avLst/>
          </a:prstGeom>
        </p:spPr>
      </p:pic>
      <p:pic>
        <p:nvPicPr>
          <p:cNvPr id="12" name="Picture 11" descr="image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4023360"/>
            <a:ext cx="59436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266795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Scénarios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Test</a:t>
            </a:r>
          </a:p>
        </p:txBody>
      </p:sp>
      <p:pic>
        <p:nvPicPr>
          <p:cNvPr id="9" name="Picture 8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5029200" cy="1828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3337560"/>
            <a:ext cx="9784080" cy="384048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59" y="3355848"/>
            <a:ext cx="1737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3344918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355848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Protocol/Port</a:t>
            </a:r>
            <a:endParaRPr b="1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0" y="3355848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Règle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55848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Résultat</a:t>
            </a:r>
            <a:endParaRPr b="1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0040" y="3721608"/>
            <a:ext cx="978408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59" y="3739896"/>
            <a:ext cx="1737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 20 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iant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4560" y="3739896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192.168.20.2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739896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ICMP (ping)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39896"/>
            <a:ext cx="2194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deny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icmp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host .20.2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739896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BLOQUÉ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42232"/>
            <a:ext cx="97840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58" y="4160520"/>
            <a:ext cx="2293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 20 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iant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4560" y="4160520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192.168.30.2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160520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FTP (port 21)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16052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deny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160520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BLOQUÉ</a:t>
            </a:r>
            <a:endParaRPr b="1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0040" y="4562856"/>
            <a:ext cx="978408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5759" y="4581144"/>
            <a:ext cx="1737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 20 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iant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94560" y="4581144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192.168.30.2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581144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(port 80)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581144"/>
            <a:ext cx="2194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www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581144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AUTORISÉ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983480"/>
            <a:ext cx="97840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65759" y="5001768"/>
            <a:ext cx="1737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 20 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4560" y="5001768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192.168.30.2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5001768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ICMP (ping)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001768"/>
            <a:ext cx="2194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icmp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host .30.2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001768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AUTORISÉ</a:t>
            </a:r>
            <a:endParaRPr b="1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20040" y="5404104"/>
            <a:ext cx="9784080" cy="40233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65758" y="5422392"/>
            <a:ext cx="2075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 10 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94560" y="5422392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192.168.30.2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5422392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Tous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protocoles</a:t>
            </a:r>
            <a:endParaRPr sz="20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17920" y="5422392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any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503920" y="5422392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AUTORISÉ</a:t>
            </a:r>
            <a:endParaRPr b="1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20040" y="5824728"/>
            <a:ext cx="97840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68513" y="5800199"/>
            <a:ext cx="25661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 10 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4560" y="5843016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192.168.20.2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5843016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protocoles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17920" y="5843016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any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503920" y="5843016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AUTORISÉ</a:t>
            </a:r>
            <a:endParaRPr b="1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266796"/>
            <a:ext cx="12188952" cy="56052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smtClean="0">
                <a:solidFill>
                  <a:srgbClr val="FFFFFF"/>
                </a:solidFill>
              </a:rPr>
              <a:t> </a:t>
            </a:r>
            <a:r>
              <a:rPr sz="2800" b="1" i="0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Ce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projet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nous a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permis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de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comprendre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vraiment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comment les ACL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fonctionnent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dans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un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vrai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environnement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réseau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. On a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pu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configurer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, tester et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corriger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nos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erreurs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 smtClean="0">
                <a:solidFill>
                  <a:srgbClr val="333333"/>
                </a:solidFill>
                <a:latin typeface="Arial Black" panose="020B0A04020102020204" pitchFamily="34" charset="0"/>
              </a:rPr>
              <a:t>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ce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qui nous a beaucoup 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appris</a:t>
            </a:r>
            <a:r>
              <a:rPr sz="1200" b="0" i="0" dirty="0">
                <a:solidFill>
                  <a:srgbClr val="333333"/>
                </a:solidFill>
                <a:latin typeface="Arial Black" panose="020B0A04020102020204" pitchFamily="34" charset="0"/>
              </a:rPr>
              <a:t> </a:t>
            </a:r>
            <a:r>
              <a:rPr lang="en-US" sz="1300" b="0" i="0" dirty="0" smtClean="0">
                <a:solidFill>
                  <a:srgbClr val="333333"/>
                </a:solidFill>
              </a:rPr>
              <a:t>.</a:t>
            </a:r>
            <a:endParaRPr sz="1300" b="0" i="0" dirty="0">
              <a:solidFill>
                <a:srgbClr val="33333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2194560"/>
            <a:ext cx="379476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320040" y="2194560"/>
            <a:ext cx="3794760" cy="411480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29768" y="2282428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Ce </a:t>
            </a:r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qu</a:t>
            </a:r>
            <a:r>
              <a:rPr lang="en-US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 nous </a:t>
            </a:r>
            <a:r>
              <a:rPr lang="en-US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avons</a:t>
            </a:r>
            <a:r>
              <a:rPr lang="en-US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appris</a:t>
            </a:r>
            <a:endParaRPr b="1" i="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" y="2697480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Comment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créer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VLANs et faire le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routage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inter-VLAN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355848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La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différence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entre ACL Standard et ACL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Étendue</a:t>
            </a:r>
            <a:endParaRPr sz="1600"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9768" y="4014216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Comment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appliquer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ACL sur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 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b="0" i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9768" y="4672584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L'importance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 wildcard mask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ACL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330952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danger du 'deny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implicite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à la fin de 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toute</a:t>
            </a:r>
            <a:r>
              <a:rPr sz="16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2194560"/>
            <a:ext cx="379476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4279392" y="2194560"/>
            <a:ext cx="3794760" cy="411480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526280" y="2240280"/>
            <a:ext cx="3456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Compétences</a:t>
            </a:r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697480"/>
            <a:ext cx="356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Maîtrise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Cisco Packet Tracer pour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simuler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réseau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3355848"/>
            <a:ext cx="356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Cisco IOS </a:t>
            </a:r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access-list,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access-group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014216"/>
            <a:ext cx="356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Commandes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vérification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 show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ip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access-lists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672584"/>
            <a:ext cx="356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333333"/>
                </a:solidFill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Configuration DHCP et DNS sur Packet Tracer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330952"/>
            <a:ext cx="356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333333"/>
                </a:solidFill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Débogage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et correction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d'erreurs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configuration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38744" y="2194560"/>
            <a:ext cx="379476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8238744" y="2194560"/>
            <a:ext cx="3794760" cy="411480"/>
          </a:xfrm>
          <a:prstGeom prst="rect">
            <a:avLst/>
          </a:prstGeom>
          <a:solidFill>
            <a:srgbClr val="15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348472" y="2240280"/>
            <a:ext cx="3794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Ce </a:t>
            </a:r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qu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 nous</a:t>
            </a:r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fer</a:t>
            </a:r>
            <a:r>
              <a:rPr lang="en-US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ont</a:t>
            </a:r>
            <a:r>
              <a:rPr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 plus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2697480"/>
            <a:ext cx="356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Ajouter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un pare-feu ASA pour plus de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sécurité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48472" y="3355848"/>
            <a:ext cx="356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Implémenter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ACL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dynamiques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avec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authentification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48472" y="4250174"/>
            <a:ext cx="356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Ajouter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logs pour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surveiller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bloqué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48472" y="5330952"/>
            <a:ext cx="356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Combiner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ACL avec NAT pour un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réseau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</a:t>
            </a:r>
            <a:endParaRPr b="0" i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Merci pour </a:t>
            </a:r>
            <a:r>
              <a:rPr sz="48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votre</a:t>
            </a:r>
            <a:r>
              <a:rPr sz="48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attention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smtClean="0">
                <a:solidFill>
                  <a:srgbClr val="ADD8FF"/>
                </a:solidFill>
              </a:rPr>
              <a:t>  </a:t>
            </a:r>
            <a:r>
              <a:rPr sz="2400"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Implémentation</a:t>
            </a:r>
            <a:r>
              <a:rPr sz="2400"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ACL pour le </a:t>
            </a:r>
            <a:r>
              <a:rPr sz="2400"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Contrôle</a:t>
            </a:r>
            <a:r>
              <a:rPr sz="2400"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d'Accès</a:t>
            </a:r>
            <a:r>
              <a:rPr sz="2400"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Réseau</a:t>
            </a:r>
            <a:endParaRPr sz="2400" b="0" i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1043</Words>
  <Application>Microsoft Office PowerPoint</Application>
  <PresentationFormat>Custom</PresentationFormat>
  <Paragraphs>175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Magdala Isidore</dc:creator>
  <cp:keywords/>
  <dc:description>generated using python-pptx</dc:description>
  <cp:lastModifiedBy>Magdala Isidore</cp:lastModifiedBy>
  <cp:revision>29</cp:revision>
  <dcterms:created xsi:type="dcterms:W3CDTF">2013-01-27T09:14:16Z</dcterms:created>
  <dcterms:modified xsi:type="dcterms:W3CDTF">2026-05-20T17:49:27Z</dcterms:modified>
  <cp:category/>
</cp:coreProperties>
</file>